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7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65"/>
            <p14:sldId id="267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chemeClr val="accent2"/>
                </a:solidFill>
              </a:rPr>
              <a:t>Avg. days to identify + contain a breach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02685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277</c:v>
                </c:pt>
                <c:pt idx="1">
                  <c:v>258</c:v>
                </c:pt>
                <c:pt idx="2">
                  <c:v>241</c:v>
                </c:pt>
                <c:pt idx="3">
                  <c:v>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2D-46F1-804D-0C44C491B8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accent6"/>
            </a:solidFill>
          </a:ln>
        </c:spPr>
        <c:txPr>
          <a:bodyPr/>
          <a:lstStyle/>
          <a:p>
            <a:pPr>
              <a:defRPr sz="1000">
                <a:solidFill>
                  <a:schemeClr val="tx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9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93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80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80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200400"/>
            <a:ext cx="6035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Team Name – </a:t>
            </a:r>
            <a:r>
              <a:rPr lang="en-US" sz="1800" dirty="0">
                <a:solidFill>
                  <a:schemeClr val="bg1"/>
                </a:solidFill>
              </a:rPr>
              <a:t>Axiom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Team Members – </a:t>
            </a:r>
            <a:r>
              <a:rPr lang="en-US" sz="1800" dirty="0">
                <a:solidFill>
                  <a:schemeClr val="bg1"/>
                </a:solidFill>
              </a:rPr>
              <a:t>Avantika S, Lakshmi Krishna</a:t>
            </a:r>
            <a:r>
              <a:rPr lang="en-US" dirty="0">
                <a:solidFill>
                  <a:schemeClr val="bg1"/>
                </a:solidFill>
              </a:rPr>
              <a:t> B</a:t>
            </a:r>
            <a:r>
              <a:rPr lang="en-US" sz="1800" dirty="0">
                <a:solidFill>
                  <a:schemeClr val="bg1"/>
                </a:solidFill>
              </a:rPr>
              <a:t>, Sreeparvathy S Menon, Sruthy Devaraj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Selected Domain – </a:t>
            </a:r>
            <a:r>
              <a:rPr lang="en-US" sz="1800" dirty="0">
                <a:solidFill>
                  <a:schemeClr val="bg1"/>
                </a:solidFill>
              </a:rPr>
              <a:t>Domain 7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Problem Statement – </a:t>
            </a:r>
            <a:r>
              <a:rPr lang="en-US" sz="1500" dirty="0">
                <a:solidFill>
                  <a:schemeClr val="bg1"/>
                </a:solidFill>
              </a:rPr>
              <a:t>An AI-driven, self-healing secure communication framework using Post-Quantum Cryptography that detects compromised or abnormal sessions and autonomously restores and verifies them.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Axiom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4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exactly needs to be solved?</a:t>
            </a:r>
          </a:p>
          <a:p>
            <a:pPr marL="279400" indent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Today's secure communication systems can protect and detect, but when a session becomes compromised or abnormal, recovery often depends on manual intervention.</a:t>
            </a:r>
          </a:p>
          <a:p>
            <a:pPr marL="279400" indent="-279400">
              <a:spcAft>
                <a:spcPts val="4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Why is it important right now?</a:t>
            </a:r>
          </a:p>
          <a:p>
            <a:pPr marL="27940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Harvest Now, Decrypt Later: </a:t>
            </a:r>
            <a:r>
              <a:rPr lang="en-US" sz="1500" dirty="0">
                <a:solidFill>
                  <a:schemeClr val="tx1"/>
                </a:solidFill>
              </a:rPr>
              <a:t>Attackers can capture encrypted data today and decrypt it in the future when quantum computing becomes powerful enough.</a:t>
            </a:r>
          </a:p>
          <a:p>
            <a:pPr marL="27940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Quantum threat: </a:t>
            </a:r>
            <a:r>
              <a:rPr lang="en-US" sz="1500" dirty="0">
                <a:solidFill>
                  <a:schemeClr val="tx1"/>
                </a:solidFill>
              </a:rPr>
              <a:t>RSA/ECC-based security may become vulnerable, making the transition to Post-Quantum Cryptography (PQC) urgent.</a:t>
            </a:r>
          </a:p>
          <a:p>
            <a:pPr marL="279400" indent="-279400">
              <a:spcAft>
                <a:spcPts val="4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The gap we address</a:t>
            </a:r>
          </a:p>
          <a:p>
            <a:pPr marL="279400" indent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PQC protects against future quantum threats + AI detects abnormal behaviour + Self-healing autonomously restores and verifies secure communication.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Axiom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26" name="Involvement bar 1"/>
          <p:cNvSpPr/>
          <p:nvPr/>
        </p:nvSpPr>
        <p:spPr>
          <a:xfrm>
            <a:off x="640080" y="2606039"/>
            <a:ext cx="1280160" cy="292608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09728" rIns="45720" rtlCol="0" anchor="t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HIGH</a:t>
            </a:r>
          </a:p>
          <a:p>
            <a:pPr algn="ctr"/>
            <a:r>
              <a:rPr sz="1100" b="0" i="0">
                <a:solidFill>
                  <a:schemeClr val="bg1"/>
                </a:solidFill>
              </a:rPr>
              <a:t>involvement</a:t>
            </a:r>
          </a:p>
        </p:txBody>
      </p:sp>
      <p:sp>
        <p:nvSpPr>
          <p:cNvPr id="27" name="Involvement badge 1"/>
          <p:cNvSpPr/>
          <p:nvPr/>
        </p:nvSpPr>
        <p:spPr>
          <a:xfrm>
            <a:off x="1078992" y="2130551"/>
            <a:ext cx="402336" cy="40233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" name="Involvement caption 1"/>
          <p:cNvSpPr txBox="1"/>
          <p:nvPr/>
        </p:nvSpPr>
        <p:spPr>
          <a:xfrm>
            <a:off x="594359" y="56052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chemeClr val="accent2"/>
                </a:solidFill>
              </a:rPr>
              <a:t>Uses the system directly</a:t>
            </a:r>
          </a:p>
        </p:txBody>
      </p:sp>
      <p:sp>
        <p:nvSpPr>
          <p:cNvPr id="29" name="Involvement bar 2"/>
          <p:cNvSpPr/>
          <p:nvPr/>
        </p:nvSpPr>
        <p:spPr>
          <a:xfrm>
            <a:off x="2103120" y="3566160"/>
            <a:ext cx="1280160" cy="1965960"/>
          </a:xfrm>
          <a:prstGeom prst="roundRect">
            <a:avLst>
              <a:gd name="adj" fmla="val 6000"/>
            </a:avLst>
          </a:prstGeom>
          <a:solidFill>
            <a:srgbClr val="A9D5BD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09728" rIns="45720" rtlCol="0" anchor="t"/>
          <a:lstStyle/>
          <a:p>
            <a:pPr algn="ctr"/>
            <a:r>
              <a:rPr sz="1500" b="1" i="0">
                <a:solidFill>
                  <a:schemeClr val="tx1"/>
                </a:solidFill>
              </a:rPr>
              <a:t>MEDIUM</a:t>
            </a:r>
          </a:p>
          <a:p>
            <a:pPr algn="ctr"/>
            <a:r>
              <a:rPr sz="1100" b="0" i="0">
                <a:solidFill>
                  <a:schemeClr val="tx1"/>
                </a:solidFill>
              </a:rPr>
              <a:t>involvement</a:t>
            </a:r>
          </a:p>
        </p:txBody>
      </p:sp>
      <p:sp>
        <p:nvSpPr>
          <p:cNvPr id="30" name="Involvement badge 2"/>
          <p:cNvSpPr/>
          <p:nvPr/>
        </p:nvSpPr>
        <p:spPr>
          <a:xfrm>
            <a:off x="2542032" y="3090672"/>
            <a:ext cx="402336" cy="402336"/>
          </a:xfrm>
          <a:prstGeom prst="ellipse">
            <a:avLst/>
          </a:prstGeom>
          <a:solidFill>
            <a:srgbClr val="A9D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Involvement caption 2"/>
          <p:cNvSpPr txBox="1"/>
          <p:nvPr/>
        </p:nvSpPr>
        <p:spPr>
          <a:xfrm>
            <a:off x="2057400" y="56052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chemeClr val="accent2"/>
                </a:solidFill>
              </a:rPr>
              <a:t>Supports &amp; oversees it</a:t>
            </a:r>
          </a:p>
        </p:txBody>
      </p:sp>
      <p:sp>
        <p:nvSpPr>
          <p:cNvPr id="32" name="Involvement bar 3"/>
          <p:cNvSpPr/>
          <p:nvPr/>
        </p:nvSpPr>
        <p:spPr>
          <a:xfrm>
            <a:off x="3566159" y="4526279"/>
            <a:ext cx="1280160" cy="1005840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09728" rIns="45720" rtlCol="0" anchor="t"/>
          <a:lstStyle/>
          <a:p>
            <a:pPr algn="ctr"/>
            <a:r>
              <a:rPr sz="1500" b="1" i="0">
                <a:solidFill>
                  <a:schemeClr val="accent2"/>
                </a:solidFill>
              </a:rPr>
              <a:t>LOW</a:t>
            </a:r>
          </a:p>
          <a:p>
            <a:pPr algn="ctr"/>
            <a:r>
              <a:rPr sz="1100" b="0" i="0">
                <a:solidFill>
                  <a:schemeClr val="accent2"/>
                </a:solidFill>
              </a:rPr>
              <a:t>involvement</a:t>
            </a:r>
          </a:p>
        </p:txBody>
      </p:sp>
      <p:sp>
        <p:nvSpPr>
          <p:cNvPr id="33" name="Involvement badge 3"/>
          <p:cNvSpPr/>
          <p:nvPr/>
        </p:nvSpPr>
        <p:spPr>
          <a:xfrm>
            <a:off x="4005072" y="4050791"/>
            <a:ext cx="402336" cy="40233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4" name="Involvement caption 3"/>
          <p:cNvSpPr txBox="1"/>
          <p:nvPr/>
        </p:nvSpPr>
        <p:spPr>
          <a:xfrm>
            <a:off x="3520439" y="56052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chemeClr val="accent2"/>
                </a:solidFill>
              </a:rPr>
              <a:t>Benefits indirectly</a:t>
            </a:r>
          </a:p>
        </p:txBody>
      </p:sp>
      <p:cxnSp>
        <p:nvCxnSpPr>
          <p:cNvPr id="35" name="Baseline"/>
          <p:cNvCxnSpPr/>
          <p:nvPr/>
        </p:nvCxnSpPr>
        <p:spPr>
          <a:xfrm>
            <a:off x="548640" y="5532120"/>
            <a:ext cx="4389119" cy="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rd 1"/>
          <p:cNvSpPr/>
          <p:nvPr/>
        </p:nvSpPr>
        <p:spPr>
          <a:xfrm>
            <a:off x="5257800" y="2057400"/>
            <a:ext cx="6355080" cy="126187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rd 1 number"/>
          <p:cNvSpPr/>
          <p:nvPr/>
        </p:nvSpPr>
        <p:spPr>
          <a:xfrm>
            <a:off x="5440680" y="22402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8" name="Card 1 text"/>
          <p:cNvSpPr txBox="1"/>
          <p:nvPr/>
        </p:nvSpPr>
        <p:spPr>
          <a:xfrm>
            <a:off x="6126480" y="2185416"/>
            <a:ext cx="5303520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chemeClr val="accent2"/>
                </a:solidFill>
              </a:rPr>
              <a:t>Primary users / target group</a:t>
            </a:r>
          </a:p>
          <a:p>
            <a:pPr marL="182880" indent="-182880" algn="l">
              <a:spcAft>
                <a:spcPts val="1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Banks, hospitals, defence &amp; government handling sensitive data</a:t>
            </a:r>
          </a:p>
          <a:p>
            <a:pPr marL="182880" indent="-182880" algn="l">
              <a:spcAft>
                <a:spcPts val="1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Telecom &amp; critical-infrastructure operators running secure links</a:t>
            </a:r>
          </a:p>
          <a:p>
            <a:pPr marL="182880" indent="-182880" algn="l">
              <a:spcAft>
                <a:spcPts val="1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Security / SOC teams who monitor and respond to session threats</a:t>
            </a:r>
          </a:p>
        </p:txBody>
      </p:sp>
      <p:sp>
        <p:nvSpPr>
          <p:cNvPr id="39" name="Card 2"/>
          <p:cNvSpPr/>
          <p:nvPr/>
        </p:nvSpPr>
        <p:spPr>
          <a:xfrm>
            <a:off x="5257800" y="3447288"/>
            <a:ext cx="6355080" cy="126187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rd 2 number"/>
          <p:cNvSpPr/>
          <p:nvPr/>
        </p:nvSpPr>
        <p:spPr>
          <a:xfrm>
            <a:off x="5440680" y="3630168"/>
            <a:ext cx="457200" cy="457200"/>
          </a:xfrm>
          <a:prstGeom prst="ellipse">
            <a:avLst/>
          </a:prstGeom>
          <a:solidFill>
            <a:srgbClr val="A9D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1" name="Card 2 text"/>
          <p:cNvSpPr txBox="1"/>
          <p:nvPr/>
        </p:nvSpPr>
        <p:spPr>
          <a:xfrm>
            <a:off x="6126480" y="3575304"/>
            <a:ext cx="5303520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chemeClr val="accent2"/>
                </a:solidFill>
              </a:rPr>
              <a:t>Secondary stakeholders</a:t>
            </a:r>
          </a:p>
          <a:p>
            <a:pPr marL="182880" indent="-182880" algn="l">
              <a:spcAft>
                <a:spcPts val="1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IT admins, DevOps &amp; developers deploying the framework</a:t>
            </a:r>
          </a:p>
          <a:p>
            <a:pPr marL="182880" indent="-182880" algn="l">
              <a:spcAft>
                <a:spcPts val="1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Regulators, standards bodies (NIST, CERT-In) &amp; auditors</a:t>
            </a:r>
          </a:p>
          <a:p>
            <a:pPr marL="182880" indent="-182880" algn="l">
              <a:spcAft>
                <a:spcPts val="1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Cloud, VPN &amp; security vendors building secure-comms stacks</a:t>
            </a:r>
          </a:p>
        </p:txBody>
      </p:sp>
      <p:sp>
        <p:nvSpPr>
          <p:cNvPr id="42" name="Card 3"/>
          <p:cNvSpPr/>
          <p:nvPr/>
        </p:nvSpPr>
        <p:spPr>
          <a:xfrm>
            <a:off x="5257800" y="4837176"/>
            <a:ext cx="6355080" cy="126187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ard 3 number"/>
          <p:cNvSpPr/>
          <p:nvPr/>
        </p:nvSpPr>
        <p:spPr>
          <a:xfrm>
            <a:off x="5440680" y="5020056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4" name="Card 3 text"/>
          <p:cNvSpPr txBox="1"/>
          <p:nvPr/>
        </p:nvSpPr>
        <p:spPr>
          <a:xfrm>
            <a:off x="6126480" y="4965192"/>
            <a:ext cx="5303520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chemeClr val="accent2"/>
                </a:solidFill>
              </a:rPr>
              <a:t>Who benefits if the problem is solved?</a:t>
            </a:r>
          </a:p>
          <a:p>
            <a:pPr marL="182880" indent="-182880" algn="l">
              <a:spcAft>
                <a:spcPts val="1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Citizens &amp; customers: personal data stays private for decades</a:t>
            </a:r>
          </a:p>
          <a:p>
            <a:pPr marL="182880" indent="-182880" algn="l">
              <a:spcAft>
                <a:spcPts val="1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Organisations: fewer breaches, less downtime, lower response cost</a:t>
            </a:r>
          </a:p>
          <a:p>
            <a:pPr marL="182880" indent="-182880" algn="l">
              <a:spcAft>
                <a:spcPts val="1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Society: lasting trust in digital services &amp; national security</a:t>
            </a:r>
          </a:p>
        </p:txBody>
      </p:sp>
    </p:spTree>
    <p:extLst>
      <p:ext uri="{BB962C8B-B14F-4D97-AF65-F5344CB8AC3E}">
        <p14:creationId xmlns:p14="http://schemas.microsoft.com/office/powerpoint/2010/main" val="24805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Axiom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26" name="Section 1 number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7" name="Section 1 label"/>
          <p:cNvSpPr txBox="1"/>
          <p:nvPr/>
        </p:nvSpPr>
        <p:spPr>
          <a:xfrm>
            <a:off x="914400" y="2011680"/>
            <a:ext cx="49834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chemeClr val="accent1"/>
                </a:solidFill>
              </a:rPr>
              <a:t>EXISTING SCENARIO &amp; BACKGROUND</a:t>
            </a:r>
          </a:p>
        </p:txBody>
      </p:sp>
      <p:sp>
        <p:nvSpPr>
          <p:cNvPr id="28" name="Scenario bullets"/>
          <p:cNvSpPr txBox="1"/>
          <p:nvPr/>
        </p:nvSpPr>
        <p:spPr>
          <a:xfrm>
            <a:off x="548640" y="2395728"/>
            <a:ext cx="534924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Secure channels (TLS, VPN, messaging) rely on RSA / ECC key exchange</a:t>
            </a:r>
          </a:p>
          <a:p>
            <a:pPr marL="182880" indent="-182880" algn="l"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A large quantum computer running Shor’s algorithm could break both</a:t>
            </a:r>
          </a:p>
          <a:p>
            <a:pPr marL="182880" indent="-182880" algn="l"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Adversaries “harvest now, decrypt later”: store traffic today, break it later</a:t>
            </a:r>
          </a:p>
          <a:p>
            <a:pPr marL="182880" indent="-182880" algn="l"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sz="1300" b="0" i="0">
                <a:solidFill>
                  <a:schemeClr val="tx1"/>
                </a:solidFill>
              </a:rPr>
              <a:t>PQC standards now exist; the open problem is keeping live sessions trustworthy</a:t>
            </a:r>
          </a:p>
        </p:txBody>
      </p:sp>
      <p:sp>
        <p:nvSpPr>
          <p:cNvPr id="29" name="Section 2 number"/>
          <p:cNvSpPr/>
          <p:nvPr/>
        </p:nvSpPr>
        <p:spPr>
          <a:xfrm>
            <a:off x="6172200" y="201168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0" name="Section 2 label"/>
          <p:cNvSpPr txBox="1"/>
          <p:nvPr/>
        </p:nvSpPr>
        <p:spPr>
          <a:xfrm>
            <a:off x="6537960" y="201168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chemeClr val="accent1"/>
                </a:solidFill>
              </a:rPr>
              <a:t>RELEVANT DATA &amp; FACTS</a:t>
            </a:r>
          </a:p>
        </p:txBody>
      </p:sp>
      <p:sp>
        <p:nvSpPr>
          <p:cNvPr id="31" name="Fact tile 1"/>
          <p:cNvSpPr/>
          <p:nvPr/>
        </p:nvSpPr>
        <p:spPr>
          <a:xfrm>
            <a:off x="6172200" y="2395728"/>
            <a:ext cx="2240280" cy="896112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bIns="36576" rtlCol="0" anchor="ctr"/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accent1"/>
                </a:solidFill>
              </a:rPr>
              <a:t>Aug 2024</a:t>
            </a:r>
          </a:p>
          <a:p>
            <a:pPr algn="l"/>
            <a:r>
              <a:rPr sz="1050" b="0" i="0">
                <a:solidFill>
                  <a:schemeClr val="tx1"/>
                </a:solidFill>
              </a:rPr>
              <a:t>NIST publishes first 3 PQC standards (FIPS 203, 204, 205)</a:t>
            </a:r>
          </a:p>
        </p:txBody>
      </p:sp>
      <p:sp>
        <p:nvSpPr>
          <p:cNvPr id="32" name="Fact tile 2"/>
          <p:cNvSpPr/>
          <p:nvPr/>
        </p:nvSpPr>
        <p:spPr>
          <a:xfrm>
            <a:off x="6172200" y="3383280"/>
            <a:ext cx="2240280" cy="896112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bIns="36576" rtlCol="0" anchor="ctr"/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accent1"/>
                </a:solidFill>
              </a:rPr>
              <a:t>2030 → 2035</a:t>
            </a:r>
          </a:p>
          <a:p>
            <a:pPr algn="l"/>
            <a:r>
              <a:rPr sz="1050" b="0" i="0">
                <a:solidFill>
                  <a:schemeClr val="tx1"/>
                </a:solidFill>
              </a:rPr>
              <a:t>NIST draft proposal to phase out RSA / ECC (IR 8547)</a:t>
            </a:r>
          </a:p>
        </p:txBody>
      </p:sp>
      <p:graphicFrame>
        <p:nvGraphicFramePr>
          <p:cNvPr id="33" name="Chart - Breach lifecycle"/>
          <p:cNvGraphicFramePr>
            <a:graphicFrameLocks noGrp="1"/>
          </p:cNvGraphicFramePr>
          <p:nvPr/>
        </p:nvGraphicFramePr>
        <p:xfrm>
          <a:off x="8549640" y="2359152"/>
          <a:ext cx="3063240" cy="1993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Section 3 number"/>
          <p:cNvSpPr/>
          <p:nvPr/>
        </p:nvSpPr>
        <p:spPr>
          <a:xfrm>
            <a:off x="548640" y="4224528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5" name="Section 3 label"/>
          <p:cNvSpPr txBox="1"/>
          <p:nvPr/>
        </p:nvSpPr>
        <p:spPr>
          <a:xfrm>
            <a:off x="914400" y="42245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chemeClr val="accent1"/>
                </a:solidFill>
              </a:rPr>
              <a:t>CURRENT WORKFLOW, STEP BY STEP</a:t>
            </a:r>
          </a:p>
        </p:txBody>
      </p:sp>
      <p:sp>
        <p:nvSpPr>
          <p:cNvPr id="36" name="Workflow step 1"/>
          <p:cNvSpPr/>
          <p:nvPr/>
        </p:nvSpPr>
        <p:spPr>
          <a:xfrm>
            <a:off x="548639" y="4590288"/>
            <a:ext cx="1645920" cy="10972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92608" rIns="73152" bIns="36576" rtlCol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chemeClr val="accent1"/>
                </a:solidFill>
              </a:rPr>
              <a:t>Handshake</a:t>
            </a:r>
          </a:p>
          <a:p>
            <a:pPr algn="l"/>
            <a:r>
              <a:rPr sz="1050" b="0" i="0">
                <a:solidFill>
                  <a:schemeClr val="tx1"/>
                </a:solidFill>
              </a:rPr>
              <a:t>RSA / ECDH key exchange sets up the session</a:t>
            </a:r>
          </a:p>
        </p:txBody>
      </p:sp>
      <p:sp>
        <p:nvSpPr>
          <p:cNvPr id="37" name="Workflow step 1 number"/>
          <p:cNvSpPr/>
          <p:nvPr/>
        </p:nvSpPr>
        <p:spPr>
          <a:xfrm>
            <a:off x="621791" y="4663440"/>
            <a:ext cx="237744" cy="2377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8" name="Workflow arrow 1"/>
          <p:cNvSpPr/>
          <p:nvPr/>
        </p:nvSpPr>
        <p:spPr>
          <a:xfrm>
            <a:off x="2221991" y="5038344"/>
            <a:ext cx="182880" cy="201168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orkflow step 2"/>
          <p:cNvSpPr/>
          <p:nvPr/>
        </p:nvSpPr>
        <p:spPr>
          <a:xfrm>
            <a:off x="2432303" y="4590288"/>
            <a:ext cx="1645920" cy="10972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92608" rIns="73152" bIns="36576" rtlCol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chemeClr val="accent1"/>
                </a:solidFill>
              </a:rPr>
              <a:t>Authenticate</a:t>
            </a:r>
          </a:p>
          <a:p>
            <a:pPr algn="l"/>
            <a:r>
              <a:rPr sz="1050" b="0" i="0">
                <a:solidFill>
                  <a:schemeClr val="tx1"/>
                </a:solidFill>
              </a:rPr>
              <a:t>Certificate (PKI) checked once, at session start</a:t>
            </a:r>
          </a:p>
        </p:txBody>
      </p:sp>
      <p:sp>
        <p:nvSpPr>
          <p:cNvPr id="40" name="Workflow step 2 number"/>
          <p:cNvSpPr/>
          <p:nvPr/>
        </p:nvSpPr>
        <p:spPr>
          <a:xfrm>
            <a:off x="2505455" y="4663440"/>
            <a:ext cx="237744" cy="2377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1" name="Workflow arrow 2"/>
          <p:cNvSpPr/>
          <p:nvPr/>
        </p:nvSpPr>
        <p:spPr>
          <a:xfrm>
            <a:off x="4105655" y="5038344"/>
            <a:ext cx="182880" cy="201168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orkflow step 3"/>
          <p:cNvSpPr/>
          <p:nvPr/>
        </p:nvSpPr>
        <p:spPr>
          <a:xfrm>
            <a:off x="4315967" y="4590288"/>
            <a:ext cx="1645920" cy="10972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92608" rIns="73152" bIns="36576" rtlCol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chemeClr val="accent1"/>
                </a:solidFill>
              </a:rPr>
              <a:t>Session runs</a:t>
            </a:r>
          </a:p>
          <a:p>
            <a:pPr algn="l"/>
            <a:r>
              <a:rPr sz="1050" b="0" i="0">
                <a:solidFill>
                  <a:schemeClr val="tx1"/>
                </a:solidFill>
              </a:rPr>
              <a:t>Traffic encrypted; keys &amp; state rarely re-checked</a:t>
            </a:r>
          </a:p>
        </p:txBody>
      </p:sp>
      <p:sp>
        <p:nvSpPr>
          <p:cNvPr id="43" name="Workflow step 3 number"/>
          <p:cNvSpPr/>
          <p:nvPr/>
        </p:nvSpPr>
        <p:spPr>
          <a:xfrm>
            <a:off x="4389119" y="4663440"/>
            <a:ext cx="237744" cy="2377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4" name="Workflow arrow 3"/>
          <p:cNvSpPr/>
          <p:nvPr/>
        </p:nvSpPr>
        <p:spPr>
          <a:xfrm>
            <a:off x="5989319" y="5038344"/>
            <a:ext cx="182880" cy="201168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Workflow step 4"/>
          <p:cNvSpPr/>
          <p:nvPr/>
        </p:nvSpPr>
        <p:spPr>
          <a:xfrm>
            <a:off x="6199631" y="4590288"/>
            <a:ext cx="1645920" cy="10972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92608" rIns="73152" bIns="36576" rtlCol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chemeClr val="accent1"/>
                </a:solidFill>
              </a:rPr>
              <a:t>Monitor</a:t>
            </a:r>
          </a:p>
          <a:p>
            <a:pPr algn="l"/>
            <a:r>
              <a:rPr sz="1050" b="0" i="0">
                <a:solidFill>
                  <a:schemeClr val="tx1"/>
                </a:solidFill>
              </a:rPr>
              <a:t>IDS / SIEM logs and rule-based alerts</a:t>
            </a:r>
          </a:p>
        </p:txBody>
      </p:sp>
      <p:sp>
        <p:nvSpPr>
          <p:cNvPr id="46" name="Workflow step 4 number"/>
          <p:cNvSpPr/>
          <p:nvPr/>
        </p:nvSpPr>
        <p:spPr>
          <a:xfrm>
            <a:off x="6272783" y="4663440"/>
            <a:ext cx="237744" cy="2377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7" name="Workflow arrow 4"/>
          <p:cNvSpPr/>
          <p:nvPr/>
        </p:nvSpPr>
        <p:spPr>
          <a:xfrm>
            <a:off x="7872983" y="5038344"/>
            <a:ext cx="182880" cy="201168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Workflow step 5"/>
          <p:cNvSpPr/>
          <p:nvPr/>
        </p:nvSpPr>
        <p:spPr>
          <a:xfrm>
            <a:off x="8083296" y="4590288"/>
            <a:ext cx="1645920" cy="10972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92608" rIns="73152" bIns="36576" rtlCol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chemeClr val="accent1"/>
                </a:solidFill>
              </a:rPr>
              <a:t>Triage</a:t>
            </a:r>
          </a:p>
          <a:p>
            <a:pPr algn="l"/>
            <a:r>
              <a:rPr sz="1050" b="0" i="0">
                <a:solidFill>
                  <a:schemeClr val="tx1"/>
                </a:solidFill>
              </a:rPr>
              <a:t>Analyst investigates the alert by hand</a:t>
            </a:r>
          </a:p>
        </p:txBody>
      </p:sp>
      <p:sp>
        <p:nvSpPr>
          <p:cNvPr id="49" name="Workflow step 5 number"/>
          <p:cNvSpPr/>
          <p:nvPr/>
        </p:nvSpPr>
        <p:spPr>
          <a:xfrm>
            <a:off x="8156448" y="4663440"/>
            <a:ext cx="237744" cy="2377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0" name="Workflow arrow 5"/>
          <p:cNvSpPr/>
          <p:nvPr/>
        </p:nvSpPr>
        <p:spPr>
          <a:xfrm>
            <a:off x="9756648" y="5038344"/>
            <a:ext cx="182880" cy="201168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Workflow step 6"/>
          <p:cNvSpPr/>
          <p:nvPr/>
        </p:nvSpPr>
        <p:spPr>
          <a:xfrm>
            <a:off x="9966960" y="4590288"/>
            <a:ext cx="1645920" cy="10972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92608" rIns="73152" bIns="36576" rtlCol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chemeClr val="accent1"/>
                </a:solidFill>
              </a:rPr>
              <a:t>Respond</a:t>
            </a:r>
          </a:p>
          <a:p>
            <a:pPr algn="l"/>
            <a:r>
              <a:rPr sz="1050" b="0" i="0">
                <a:solidFill>
                  <a:schemeClr val="tx1"/>
                </a:solidFill>
              </a:rPr>
              <a:t>Manually revoke keys, rebuild session, audit</a:t>
            </a:r>
          </a:p>
        </p:txBody>
      </p:sp>
      <p:sp>
        <p:nvSpPr>
          <p:cNvPr id="52" name="Workflow step 6 number"/>
          <p:cNvSpPr/>
          <p:nvPr/>
        </p:nvSpPr>
        <p:spPr>
          <a:xfrm>
            <a:off x="10040112" y="4663440"/>
            <a:ext cx="237744" cy="2377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3" name="Gap - quantum vulnerable"/>
          <p:cNvSpPr/>
          <p:nvPr/>
        </p:nvSpPr>
        <p:spPr>
          <a:xfrm>
            <a:off x="548639" y="5760720"/>
            <a:ext cx="3529584" cy="274320"/>
          </a:xfrm>
          <a:prstGeom prst="roundRect">
            <a:avLst>
              <a:gd name="adj" fmla="val 30000"/>
            </a:avLst>
          </a:prstGeom>
          <a:solidFill>
            <a:srgbClr val="FDEEEC"/>
          </a:solidFill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50" b="1" i="0">
                <a:solidFill>
                  <a:srgbClr val="8E2B28"/>
                </a:solidFill>
              </a:rPr>
              <a:t>Quantum-vulnerable key exchange</a:t>
            </a:r>
          </a:p>
        </p:txBody>
      </p:sp>
      <p:sp>
        <p:nvSpPr>
          <p:cNvPr id="54" name="Gap - no verification"/>
          <p:cNvSpPr/>
          <p:nvPr/>
        </p:nvSpPr>
        <p:spPr>
          <a:xfrm>
            <a:off x="4315967" y="5760720"/>
            <a:ext cx="1645919" cy="274320"/>
          </a:xfrm>
          <a:prstGeom prst="roundRect">
            <a:avLst>
              <a:gd name="adj" fmla="val 30000"/>
            </a:avLst>
          </a:prstGeom>
          <a:solidFill>
            <a:srgbClr val="FDEEEC"/>
          </a:solidFill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50" b="1" i="0">
                <a:solidFill>
                  <a:srgbClr val="8E2B28"/>
                </a:solidFill>
              </a:rPr>
              <a:t>No continuous check</a:t>
            </a:r>
          </a:p>
        </p:txBody>
      </p:sp>
      <p:sp>
        <p:nvSpPr>
          <p:cNvPr id="55" name="Gap - manual response"/>
          <p:cNvSpPr/>
          <p:nvPr/>
        </p:nvSpPr>
        <p:spPr>
          <a:xfrm>
            <a:off x="6199631" y="5760720"/>
            <a:ext cx="5413248" cy="274320"/>
          </a:xfrm>
          <a:prstGeom prst="roundRect">
            <a:avLst>
              <a:gd name="adj" fmla="val 30000"/>
            </a:avLst>
          </a:prstGeom>
          <a:solidFill>
            <a:srgbClr val="FDEEEC"/>
          </a:solidFill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50" b="1" i="0">
                <a:solidFill>
                  <a:srgbClr val="8E2B28"/>
                </a:solidFill>
              </a:rPr>
              <a:t>Manual &amp; slow: avg. breach lifecycle 247 days (IBM 2026)</a:t>
            </a:r>
          </a:p>
        </p:txBody>
      </p:sp>
      <p:sp>
        <p:nvSpPr>
          <p:cNvPr id="56" name="Sources"/>
          <p:cNvSpPr txBox="1"/>
          <p:nvPr/>
        </p:nvSpPr>
        <p:spPr>
          <a:xfrm>
            <a:off x="548640" y="6099048"/>
            <a:ext cx="11064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chemeClr val="accent5"/>
                </a:solidFill>
              </a:rPr>
              <a:t>Sources: NIST FIPS 203/204/205 (13 Aug 2024); NIST IR 8547 initial public draft (Nov 2024); IBM Cost of a Data Breach Report 2023–2026.</a:t>
            </a:r>
          </a:p>
        </p:txBody>
      </p:sp>
    </p:spTree>
    <p:extLst>
      <p:ext uri="{BB962C8B-B14F-4D97-AF65-F5344CB8AC3E}">
        <p14:creationId xmlns:p14="http://schemas.microsoft.com/office/powerpoint/2010/main" val="3369091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kern="0" spc="3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Axiom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363894" y="2110118"/>
            <a:ext cx="5038530" cy="398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b="1" dirty="0"/>
              <a:t>Main difficulties and bottlenecks</a:t>
            </a:r>
          </a:p>
          <a:p>
            <a:pPr lvl="0"/>
            <a:r>
              <a:rPr lang="en-IN" sz="1600" dirty="0"/>
              <a:t>-Difficult to distinguish attacks from normal errors</a:t>
            </a:r>
          </a:p>
          <a:p>
            <a:pPr lvl="0"/>
            <a:r>
              <a:rPr lang="en-IN" sz="1600" dirty="0"/>
              <a:t>-Detecting a problem doesn't restore trust.</a:t>
            </a:r>
          </a:p>
          <a:p>
            <a:pPr lvl="0"/>
            <a:r>
              <a:rPr lang="en-IN" sz="1600" dirty="0"/>
              <a:t>-Different causes require different recovery actions</a:t>
            </a:r>
          </a:p>
          <a:p>
            <a:pPr lvl="0"/>
            <a:r>
              <a:rPr lang="en-IN" sz="1600" dirty="0"/>
              <a:t>-Recovery can interrupt communication.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Root causes behind them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lvl="0"/>
            <a:r>
              <a:rPr lang="en-IN" sz="1600" dirty="0"/>
              <a:t>-Systems focus on protection and detection, not recovery.</a:t>
            </a:r>
          </a:p>
          <a:p>
            <a:pPr lvl="0"/>
            <a:r>
              <a:rPr lang="en-IN" sz="1600" dirty="0"/>
              <a:t>-Recovery steps are spread across different tools.</a:t>
            </a:r>
          </a:p>
          <a:p>
            <a:pPr lvl="0"/>
            <a:r>
              <a:rPr lang="en-IN" sz="1600" dirty="0"/>
              <a:t>-Rekeying cannot fix a compromised device.</a:t>
            </a:r>
          </a:p>
          <a:p>
            <a:pPr lvl="0"/>
            <a:r>
              <a:rPr lang="en-IN" sz="1600" dirty="0"/>
              <a:t>-RSA/ECC are vulnerable to future quantum attacks.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7245B-6AE5-376A-FDCC-50E49F951215}"/>
              </a:ext>
            </a:extLst>
          </p:cNvPr>
          <p:cNvSpPr txBox="1"/>
          <p:nvPr/>
        </p:nvSpPr>
        <p:spPr>
          <a:xfrm>
            <a:off x="7091265" y="2192694"/>
            <a:ext cx="462494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Consequences of leaving them unsolved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lvl="0"/>
            <a:r>
              <a:rPr lang="en-IN" sz="1600" dirty="0"/>
              <a:t>-Longer downtime and increased data exposure.</a:t>
            </a:r>
          </a:p>
          <a:p>
            <a:pPr lvl="0"/>
            <a:r>
              <a:rPr lang="en-IN" sz="1600" dirty="0"/>
              <a:t>-Compromised sessions may remain unsafe.</a:t>
            </a:r>
          </a:p>
          <a:p>
            <a:pPr lvl="0"/>
            <a:r>
              <a:rPr lang="en-IN" sz="1600" dirty="0"/>
              <a:t>-Greater dependence on human intervention.</a:t>
            </a:r>
          </a:p>
          <a:p>
            <a:pPr lvl="0"/>
            <a:r>
              <a:rPr lang="en-IN" sz="1600" dirty="0"/>
              <a:t>-Encrypted data may be decrypted in the future.</a:t>
            </a:r>
          </a:p>
          <a:p>
            <a:endParaRPr lang="en-IN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Axioms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4664373" cy="247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b="1" dirty="0"/>
              <a:t>Existing Methods &amp; Their Limitations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dirty="0"/>
              <a:t>RSA / ECC — Widely used, but vulnerable to sufficiently powerful quantum computers.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dirty="0"/>
              <a:t>TLS / VPN — Protect communication, but don't automatically recover compromised sessions.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dirty="0"/>
              <a:t>IDS / SIEM — Detect threats, but mainly raise alerts.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dirty="0"/>
              <a:t>SOAR Playbooks — Automate predefined responses, but may struggle with unexpected situations.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dirty="0"/>
              <a:t>Device Self-Healing — Repairs certain device failures, but doesn't necessarily restore session trust.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endParaRPr lang="en-IN" sz="14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1FBFF-1620-047A-AB1E-D553F45031EE}"/>
              </a:ext>
            </a:extLst>
          </p:cNvPr>
          <p:cNvSpPr txBox="1"/>
          <p:nvPr/>
        </p:nvSpPr>
        <p:spPr>
          <a:xfrm>
            <a:off x="5971032" y="2148840"/>
            <a:ext cx="6237514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93800" lvl="2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b="1" dirty="0"/>
              <a:t>The Gap They Leave Open</a:t>
            </a:r>
          </a:p>
          <a:p>
            <a:pPr lvl="2"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sz="1400" dirty="0"/>
              <a:t>- Detection → Recovery → Verification — Existing methods don't necessarily connect all three into one autonomous process.</a:t>
            </a:r>
            <a:endParaRPr lang="en-US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C49AB5-A22B-4AC7-0FAB-B94841A97EB5}"/>
              </a:ext>
            </a:extLst>
          </p:cNvPr>
          <p:cNvSpPr txBox="1"/>
          <p:nvPr/>
        </p:nvSpPr>
        <p:spPr>
          <a:xfrm>
            <a:off x="7007289" y="3105835"/>
            <a:ext cx="502919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   </a:t>
            </a:r>
            <a:r>
              <a:rPr lang="en-IN" b="1" dirty="0"/>
              <a:t>Our Approach: </a:t>
            </a:r>
          </a:p>
          <a:p>
            <a:r>
              <a:rPr lang="en-IN" b="1" dirty="0"/>
              <a:t>          Agentic AI + Self-Healing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dirty="0"/>
              <a:t>PQC — Protects against quantum threats.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dirty="0"/>
              <a:t>Agentic AI — Diagnoses anomalies and selects suitable recovery actions.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dirty="0"/>
              <a:t>Self-Healing — Executes recovery and verifies that trust is restored.</a:t>
            </a:r>
          </a:p>
          <a:p>
            <a:pPr lvl="8"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Team Name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br>
              <a:rPr lang="en-IN" b="1" cap="all" dirty="0"/>
            </a:br>
            <a:r>
              <a:rPr lang="en-IN" b="1" cap="all" dirty="0"/>
              <a:t>KEY INSIGHT</a:t>
            </a:r>
            <a:endParaRPr lang="en-IN" dirty="0"/>
          </a:p>
          <a:p>
            <a:r>
              <a:rPr lang="en-IN" dirty="0"/>
              <a:t>Current systems detect attacks but require </a:t>
            </a:r>
            <a:r>
              <a:rPr lang="en-IN" b="1" dirty="0"/>
              <a:t>manual human intervention</a:t>
            </a:r>
            <a:r>
              <a:rPr lang="en-IN" dirty="0"/>
              <a:t> to remediate, leaving networks open to </a:t>
            </a:r>
            <a:r>
              <a:rPr lang="en-IN" b="1" dirty="0"/>
              <a:t>harvest-now-decrypt-later quantum threats</a:t>
            </a:r>
            <a:r>
              <a:rPr lang="en-IN" dirty="0"/>
              <a:t>.</a:t>
            </a:r>
          </a:p>
          <a:p>
            <a:r>
              <a:rPr lang="en-IN" b="1" cap="all" dirty="0"/>
              <a:t>CORE OPPORTUNITY</a:t>
            </a:r>
            <a:endParaRPr lang="en-IN" dirty="0"/>
          </a:p>
          <a:p>
            <a:r>
              <a:rPr lang="en-IN" dirty="0"/>
              <a:t>Combine </a:t>
            </a:r>
            <a:r>
              <a:rPr lang="en-IN" b="1" dirty="0"/>
              <a:t>ML-KEM (PQC)</a:t>
            </a:r>
            <a:r>
              <a:rPr lang="en-IN" dirty="0"/>
              <a:t>, </a:t>
            </a:r>
            <a:r>
              <a:rPr lang="en-IN" b="1" dirty="0"/>
              <a:t>AI anomaly detection</a:t>
            </a:r>
            <a:r>
              <a:rPr lang="en-IN" dirty="0"/>
              <a:t>, and </a:t>
            </a:r>
            <a:r>
              <a:rPr lang="en-IN" b="1" dirty="0"/>
              <a:t>autonomous self-healing</a:t>
            </a:r>
            <a:r>
              <a:rPr lang="en-IN" dirty="0"/>
              <a:t> into a single unified protocol that protects and restores itself </a:t>
            </a:r>
            <a:r>
              <a:rPr lang="en-IN" dirty="0" err="1"/>
              <a:t>automaticall</a:t>
            </a:r>
            <a:endParaRPr lang="en-IN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5597BF-44CF-C043-7F24-E7497B2B9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0" y="-52121"/>
            <a:ext cx="12189023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73F103-930C-DFBA-95F4-7B454EB2F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7553" y="-52121"/>
            <a:ext cx="12189024" cy="69101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Axiom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640080" y="20574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What our team intends to do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Build a prototype secure communication system with three parts: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b="1" dirty="0">
                <a:solidFill>
                  <a:schemeClr val="tx1"/>
                </a:solidFill>
              </a:rPr>
              <a:t>ML-KEM (PQC): </a:t>
            </a:r>
            <a:r>
              <a:rPr lang="en-US" sz="1200" dirty="0">
                <a:solidFill>
                  <a:schemeClr val="tx1"/>
                </a:solidFill>
              </a:rPr>
              <a:t>quantum-safe key exchange between communicating parties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b="1" dirty="0">
                <a:solidFill>
                  <a:schemeClr val="tx1"/>
                </a:solidFill>
              </a:rPr>
              <a:t>AI/ML anomaly detection: </a:t>
            </a:r>
            <a:r>
              <a:rPr lang="en-US" sz="1200" dirty="0">
                <a:solidFill>
                  <a:schemeClr val="tx1"/>
                </a:solidFill>
              </a:rPr>
              <a:t>monitors sessions for abnormal behaviour (unusual traffic, failed handshakes, suspicious key usage)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b="1" dirty="0">
                <a:solidFill>
                  <a:schemeClr val="tx1"/>
                </a:solidFill>
              </a:rPr>
              <a:t>Self-healing engine: </a:t>
            </a:r>
            <a:r>
              <a:rPr lang="en-US" sz="1200" dirty="0">
                <a:solidFill>
                  <a:schemeClr val="tx1"/>
                </a:solidFill>
              </a:rPr>
              <a:t>fixes a flagged session automatically, with no human needed</a:t>
            </a:r>
          </a:p>
        </p:txBody>
      </p:sp>
      <p:sp>
        <p:nvSpPr>
          <p:cNvPr id="30" name="Prompts Right"/>
          <p:cNvSpPr txBox="1"/>
          <p:nvPr/>
        </p:nvSpPr>
        <p:spPr>
          <a:xfrm>
            <a:off x="6309360" y="205740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What we want to improve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Manual, slow recovery → </a:t>
            </a:r>
            <a:r>
              <a:rPr lang="en-US" sz="1200" b="1" dirty="0">
                <a:solidFill>
                  <a:schemeClr val="tx1"/>
                </a:solidFill>
              </a:rPr>
              <a:t>automatic, fast recovery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RSA/ECC key exchange → </a:t>
            </a:r>
            <a:r>
              <a:rPr lang="en-US" sz="1200" b="1" dirty="0">
                <a:solidFill>
                  <a:schemeClr val="tx1"/>
                </a:solidFill>
              </a:rPr>
              <a:t>quantum-resistant ML-KEM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Detection that only alerts → </a:t>
            </a:r>
            <a:r>
              <a:rPr lang="en-US" sz="1200" b="1" dirty="0">
                <a:solidFill>
                  <a:schemeClr val="tx1"/>
                </a:solidFill>
              </a:rPr>
              <a:t>detection + autonomous recovery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Less human intervention, downtime and data exposure during attacks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What successful improvement looks like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Abnormal sessions detected in </a:t>
            </a:r>
            <a:r>
              <a:rPr lang="en-US" sz="1200" b="1" dirty="0">
                <a:solidFill>
                  <a:schemeClr val="tx1"/>
                </a:solidFill>
              </a:rPr>
              <a:t>near real time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Sessions </a:t>
            </a:r>
            <a:r>
              <a:rPr lang="en-US" sz="1200" b="1" dirty="0">
                <a:solidFill>
                  <a:schemeClr val="tx1"/>
                </a:solidFill>
              </a:rPr>
              <a:t>automatically re-keyed with ML-KEM and re-verified</a:t>
            </a:r>
            <a:r>
              <a:rPr lang="en-US" sz="1200" dirty="0">
                <a:solidFill>
                  <a:schemeClr val="tx1"/>
                </a:solidFill>
              </a:rPr>
              <a:t> without manual steps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Recovery time cut from minutes/hours to </a:t>
            </a:r>
            <a:r>
              <a:rPr lang="en-US" sz="1200" b="1" dirty="0">
                <a:solidFill>
                  <a:schemeClr val="tx1"/>
                </a:solidFill>
              </a:rPr>
              <a:t>seconds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Session keys protected against </a:t>
            </a:r>
            <a:r>
              <a:rPr lang="en-US" sz="1200" b="1" dirty="0">
                <a:solidFill>
                  <a:schemeClr val="tx1"/>
                </a:solidFill>
              </a:rPr>
              <a:t>Harvest Now, Decrypt Later</a:t>
            </a:r>
          </a:p>
          <a:p>
            <a:pPr marL="508000" indent="-17145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200" dirty="0">
                <a:solidFill>
                  <a:schemeClr val="tx1"/>
                </a:solidFill>
              </a:rPr>
              <a:t>Working demo of the full loop: </a:t>
            </a:r>
            <a:r>
              <a:rPr lang="en-US" sz="1200" b="1" dirty="0">
                <a:solidFill>
                  <a:schemeClr val="tx1"/>
                </a:solidFill>
              </a:rPr>
              <a:t>Attack → Detect → Heal → Verify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Team Name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will handle which part of the execution</a:t>
            </a:r>
            <a:endParaRPr lang="en-US" sz="1800" dirty="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34747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2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3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4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1142</Words>
  <Application>Microsoft Office PowerPoint</Application>
  <PresentationFormat>Widescreen</PresentationFormat>
  <Paragraphs>194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sruthydevaraj49@gmail.com</cp:lastModifiedBy>
  <cp:revision>6</cp:revision>
  <dcterms:created xsi:type="dcterms:W3CDTF">2026-10-07T15:27:40Z</dcterms:created>
  <dcterms:modified xsi:type="dcterms:W3CDTF">2026-10-09T15:25:53Z</dcterms:modified>
</cp:coreProperties>
</file>